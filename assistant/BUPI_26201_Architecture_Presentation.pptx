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EA5E9"/>
                </a:solidFill>
              </a:defRPr>
            </a:pPr>
            <a:r>
              <a:t>SMART INDIA HACKATHON 2026 | PROBLEM STATEMENT 26201</a:t>
            </a:r>
          </a:p>
          <a:p>
            <a:pPr>
              <a:spcAft>
                <a:spcPts val="1400"/>
              </a:spcAft>
              <a:defRPr sz="3200" b="1">
                <a:solidFill>
                  <a:srgbClr val="F8FAFC"/>
                </a:solidFill>
              </a:defRPr>
            </a:pPr>
            <a:r>
              <a:t>BUPI: Dual-Personality Autonomous Robotics</a:t>
            </a:r>
            <a:br/>
            <a:r>
              <a:t>&amp; Intelligent Desktop Companion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Ground-Truth Software Architecture, Edge Autonomy &amp; Heterogeneous Swarm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572000"/>
            <a:ext cx="320040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Mode 1: Desktop Companion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100% Electron Desktop UI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Faster-Whisper Voice STT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Edge-TTS &amp; Google Gemini Brain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572000"/>
            <a:ext cx="320040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47548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Mode 2: Autonomous Robotics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100% Offline 3-Tier Intelligence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20Hz Closed-Loop Goal Agent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Dual ESP32 Swarm Coordination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572000"/>
            <a:ext cx="320040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47548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Extensible Hardware Engine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Dynamic C++ Firmware Ingestion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SQLite FTS5 RAG &amp; Auto-Flasher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Bit-World Engine Digital Twin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SIH PROBLEM STATEMENT 26201 | GROUND-TRUTH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Engineering Realities: Solving the Edge Robotics Trilemma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1. Latency &amp; Determinism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Problem: Cloud LLMs take 2-6s, making physical collision evasion impossible.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BUPI Solution: 3-Tier Routing Architecture.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Tier 1: Deterministic Python regex (&lt;5ms) for E-Stop and direct moves.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Tier 2: Local Ollama llama3.2:3b (~500ms) for single-turn tool calling.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Verified Metric: &lt;5ms response on all emergency stop commands in router_agent.py.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2. Disconnected Field Reliability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Problem: Subterranean and disaster zones have zero internet connection.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BUPI Solution: 100% Local-First Edge Operations.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Local Faster-Whisper on CPU/GPU.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Local Mosquitto MQTT &amp; WebSockets.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20Hz autonomous goal loop executes offline without a single cloud packet.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Verified Metric: Zero cloud dependencies required for Mode 2 robotic 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3. Hardware Heterogeneity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Problem: Traditional robotic codebases hardcode pinouts and sensor logic.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BUPI Solution: Physical Sensor Specialization &amp; Dynamic Ingestion.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Bot 1 Scout handles PIR human sensing &amp; pathfinding.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Bot 2 Specialist handles MQ-2 gas &amp; microclimate triage.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Dynamic C++ ingestion compiles &amp; flashes new peripherals on the fly.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SIH PROBLEM STATEMENT 26201 | GROUND-TRUTH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Verified Layered Software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Layer 1: Presentation &amp; Cockpit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100% Electron (Chromium / Node.js). 3D Mascot (Three.js/Rive) + Central Hub (11 Tabs). Headless PyQt6.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39696"/>
            <a:ext cx="1069848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85415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Layer 2: Voice Audio Pipeline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16kHz Faster-Whisper (tiny.en) + WebRTC VAD + Edge-TTS with offline SAPI5 pyttsx3 fallback.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16352"/>
            <a:ext cx="1069848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62072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Layer 3: 3-Tier Intelligence Engine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Tier 1 (&lt;5ms regex) -&gt; Tier 2 (Ollama llama3.2:3b tool caller) -&gt; Tier 3 (Hierarchical CrewAI fallback).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93008"/>
            <a:ext cx="1069848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3872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Layer 4: Autonomy &amp; Mission Planning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AutonomousGoalAgent (20Hz loop, 11 policies) + InstructionDecomposer + 5-Stage Obstacle Detour.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69664"/>
            <a:ext cx="1069848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15384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Layer 5: Safety &amp; Epistemic Fusion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15.0s Telemetry TTL Watchdog + Gas Safety Barrier + IMU 1.20g Gait Step Counting &amp; RSSI Path Loss.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846320"/>
            <a:ext cx="1069848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Layer 6: Communication &amp; Bridge Fabric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Local Mosquitto MQTT (1883) + WebSocket Server (8767) + USB Serial COM3 (115200 baud) on Hotspot.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522976"/>
            <a:ext cx="1069848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68696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Layer 7: Physical Embedded Swarm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Bot 1 Scout (HC-SR04, PIR, MPU6050) &amp; Bot 2 Specialist (MQ-2 Gas, DHT22 Climate, HC-SR04, MPU6050).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SIH PROBLEM STATEMENT 26201 | GROUND-TRUTH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Production Runtime &amp; Inter-Process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Multi-Process Execution Tree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Launcher: Run_Bupi_Robot.bat initializes system.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Mosquitto MQTT Broker: Service started on port 1883.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Ollama Daemon: Started via ollama serve on port 11434.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Hotspot Gateway: ensure_hotspot.ps1 binds 192.168.137.1.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Electron Main (main.js): Renders mascot &amp; central hub.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Python Mode 1 (main.py): Spawns STT, TTS, and hardware server.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Python Mode 2 (run_mode2.py): Dedicated robotics decision daemon.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Asynchronous IPC Channels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Electron &lt;--&gt; Python Mode 1: Bidirectional stdin/stdout JSON lines.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Mode 1 &lt;--&gt; Mode 2: Local Mosquitto MQTT broker.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- bupi/internal/utterance: Spoken words routed to Mode 2.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- bupi/internal/tts: Robot speech spoken via Mode 1 audio.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- bupi/internal/estop: Broadcast emergency stop across processes.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Host PC &lt;--&gt; ESP32 Nodes: WebSockets on ws://192.168.137.1:8767.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Fallback Serial: USB UART COM3 auto-supervisor at 115200 baud.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SIH PROBLEM STATEMENT 26201 | GROUND-TRUTH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3-Tier Decision Pipeline: Sub-Second Edge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Tier 1: RouterAgent (&lt;5ms)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Technology: Deterministic Python Regex.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Location: agents/router_agent.py:80.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Commands Handled: Emergency stop ('stop', 'halt', 'freeze'), direct movement, basic sensor queries.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Properties: Zero AI hallucination, microsecond response, bypasses network latency.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Escalation: Unmatched utterances pass to Tier 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Tier 2: Local Orchestrator (~500ms)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Technology: Local Ollama llama3.2:3b / llama3.1:8b.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Location: agents/local_orchestrator.py:230.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Capabilities: Single-turn function calling with 12 OpenAI-compatible tool schemas.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Properties: 100% offline edge execution, tool parameter extraction, autonomous mission dispatch.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Escalation: Connection errors or complexity escalate to Tier 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Tier 3: RoboticCrew (5-15s)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Technology: Hierarchical CrewAI Multi-Agent System.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Location: agents/robotic_crew.py:123.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Sequential Fallback Chain: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1. Local Ollama llama3.2:3b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2. Local Ollama llama3.1:8b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3. Google Gemini 2.5 Flash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4. Groq llama-3.3-70b-versatile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5. NVIDIA DeepSeek / OpenRouter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Multi-Agent Roles: Scout Analyst, Specialist, Commander.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SIH PROBLEM STATEMENT 26201 | GROUND-TRUTH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Autonomous Goal Agent: 20Hz Closed-Loop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20Hz Observe-Reason-Act Cycle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Frequency: Dedicated 20Hz thread (50ms period).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Code Location: agents/autonomous_goal_agent.py:152.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1. OBSERVE (5ms): Fetch latest telemetry from bupi_node_server.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- Ultrasonic distance, MPU6050 IMU, PIR motion, MQ-2 gas.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- Feed telemetry into kinematics odometry engine.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2. REASON (10ms): Match against active policy &amp; safety rules.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- Dynamic stage check: distance met, target acquired, gas alert.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3. ACT (5ms): Dispatch motor vectors via MQTT.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- Stream live mission progress to Electron 2D arena canvas.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11 Implemented Mission Policies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Decomposer: Natural language -&gt; DynamicMissionPlan.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Code Location: planner/instruction_decomposer.py:588.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Supported Autonomous Behaviors: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EXPLORE_AND_MAP: Corridor exploration with sonar bounds.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SURVIVOR_SEARCH: Thermopile / PIR human detection search.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GAS_LEAK_INVESTIGATION: Gradient tracking to toxic gas source.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PATROL_PERIMETER: Perimeter surveillance pathing.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TARGET_APPROACH &amp; RETURN_TO_ORIGIN: Coordinate traversal.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COLLABORATIVE_SWARM_SWEEP: Dual-rover tandem sweep.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SIH PROBLEM STATEMENT 26201 | GROUND-TRUTH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Reactive Obstacle Flank &amp; Detour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Deterministic 5-Stage Geometric Detour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Location: core/obstacle_bypass_engine.py:40.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Trigger: Ultrasonic range &lt;= 15.0cm during mission.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Stage 1: REVERSE 15cm from hazard point.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Stage 2: PIVOT 60° right to clear obstacle boundary.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Stage 3: ADVANCE 30cm along lateral flank.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Stage 4: COUNTER-PIVOT -60° to restore original heading.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Stage 5: RESUME MISSION along original vector.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Zero AI Overhead: Pure deterministic state machine ensures immediate reaction without model stalls.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Kinematic &amp; Safety Integration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Odometry Tracking: Integrates with kinematics_odometry.py to measure exact angular and linear displacement.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Secondary Hazard Guard: If a second obstacle appears during the bypass maneuver, the engine aborts immediately into E-Stop.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Safety Interlock: Verified dev build has firmware cutoff disabled (ENABLE_OBSTACLE_CUTOFF 0) to avoid bench stalls.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Production Readiness: One-line flag toggle in bupi_bot1_scout.ino enables physical hardware barrier at 15cm.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SIH PROBLEM STATEMENT 26201 | GROUND-TRUTH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Heterogeneous Multi-Robot Swarm: Scout &amp; Specialist</a:t>
            </a:r>
          </a:p>
        </p:txBody>
      </p:sp>
      <p:pic>
        <p:nvPicPr>
          <p:cNvPr id="5" name="Picture 4" descr="bupi_dual_rov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29809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57200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Tandem Fusion &amp; Swarm Interlock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SwarmCoordinator fuses scout corridor profile with specialist gas data.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Tandem operation: Bot 1 navigates advance while Bot 2 profiles hazards.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Evacuation Trigger: Gas &gt; 350ppm broadcasts simultaneous emergency stop.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Bot 1: Reconnaissance Scout (bupi_01)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Sensors: HC-SR04 Ultrasonic (GPIO 5/18), MPU6050 6-Axis IMU, PIR Motion Sensor.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Actuation: TB6612FNG Dual H-Bridge driving 2x N20 Gearmotors (4WD chassis).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Mission Role: Rapid corridor advance, thermal survivor detection, obstacle mapping.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Bot 2: Environmental Specialist (bupi_02)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Sensors: MQ-2 Toxic Gas, MQ-135 Air Quality, DHT22 Climate, HC-SR04, MPU6050.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Actuation: TB6612FNG Dual H-Bridge driving 2x N20 Gearmotors (4WD chassis).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Mission Role: Atmospheric hazard triage, microclimate &amp; explosive gas plume profiling.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SIH PROBLEM STATEMENT 26201 | GROUND-TRUTH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Multi-Layer Safety Architecture &amp; Watchdogs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Layer 1: Deterministic Router E-Stop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Bypasses all reasoning layers. Matches 'stop', 'halt', 'freeze' in &lt;5ms to issue motor halt.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95728"/>
            <a:ext cx="10698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Layer 2: 15.0s Telemetry TTL Watchdog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Enforced in core/safety_validator.py:6. Rejects new movement if sensor telemetry is &gt;15s stale.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28416"/>
            <a:ext cx="10698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19856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Layer 3: Gas Hazard Safety Barrier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Enforced in core/safety_validator.py:125. Blocks forward motion &amp; ventilation shutoff if gas &gt; 300ppm.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61104"/>
            <a:ext cx="10698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52544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Layer 4: Node Heartbeat Monitor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Enforced in bupi_node_server.py:184. Checks nodes every 5s; marks nodes OFFLINE after 15s silence.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193792"/>
            <a:ext cx="10698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1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C55E"/>
                </a:solidFill>
              </a:defRPr>
            </a:pPr>
            <a:r>
              <a:t>Layer 5: Microcontroller Motor Auto-Stop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Enforced in firmware/bupi_bot1_scout.ino:676. Every command requires duration_ms; halts locally.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SIH PROBLEM STATEMENT 26201 | GROUND-TRUTH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Epistemic Kinematics Fusion &amp; Odometry Reality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Kinematics Odometry Mechanics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Engine: core/kinematics_odometry.py:140.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IMU Gait Step Counter: Monitors total acceleration magnitude (sqrt(ax^2 + ay^2 + az^2)).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- Step threshold: &gt;= 1.20g with 180ms debounce.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- Stride length: 0.075 m (7.5 cm) per registered step.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Gyro Yaw Dead-Reckoning: Integrates MPU6050 Z-gyro angular velocity over dt.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- Position update: x += stride * cos(theta), y += stride * sin(theta).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Wi-Fi RSSI Distance: d = 10^((-42 - RSSI) / 25) with EWMA filter.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Ground-Truth Reality vs Past Claims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Audit Finding: 'Extended Kalman Filter (EKF)' is NOT present in repository.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What Actually Runs: A clean epistemic kinematics fusion engine designed specifically for small vibration-prone rovers.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Why This Design Works: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- Eliminates wheel slip integration drift from encoder-less N20 DC motors.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- IMU step detection verifies actual physical chassis motion.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- Wi-Fi RSSI log-distance path loss bounds cumulative unbounded drift.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SIH PROBLEM STATEMENT 26201 | GROUND-TRUTH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Dynamic C++ Hardware Ingestion &amp; Auto-Flasher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Self-Learning Hardware Pipeline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1. Snippet Input: User pastes raw Arduino C++ into Central Hub.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2. FTS5 RAG Search: services/knowledge_super_agent.py queries SQLite FTS5 index for library pinout rules (&lt;1ms).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3. Sketch Synthesis: brain/ai_brain.py:393 injects Wi-Fi/MQTT handlers and command packet parsers.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4. Memory Persistence: Appends command format to hardware_memory.txt.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5. Auto-Flasher: actions/flasher.py compiles with arduino-cli and flashes to detected ESP32 COM port.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6. Instant Control: LLMs read hardware_memory.txt and invoke universal_mqtt_tool without changing core code!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Extensibility Proof &amp; Limits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Verified Extensible Peripherals (Zero Python Changes):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Actuators: Servos, relays, displays, buzzers, LEDs.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Command Protocol: universal_mqtt_tool(topic, payload).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Where Changes Are Needed: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Semantic Sensor Translation: Converting new analog raw values into natural language labels ('HAZARDOUS') requires an entry in core/sensor_translator.py.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Video Streams: Requires an &lt;img&gt; tag in notepad.html.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SIH PROBLEM STATEMENT 26201 | GROUND-TRUTH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Communication Fabric &amp; Network Topology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Network Infrastructure (Hotspot 192.168.137.1)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Subnet: 192.168.137.0/24 (Windows Mobile Hotspot).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Mosquitto MQTT: 127.0.0.1:1883 (TCP Broker).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- Internal utterance, TTS feedback, and actuator broadcasts.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WebSocket Server: 0.0.0.0:8767 (Unified Bridge).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- Bi-directional JSON frame streaming at 20Hz.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- Port 8765 does NOT exist (historical typo corrected).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USB Serial Supervisor: COM3 at 115200 baud.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- Auto-reconnect thread provides zero-loss wired backup.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Telemetry &amp; Database Streaming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Rate: 20Hz streaming from microcontrollers to host.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Batch DB Writer: bupi_node_server.py:1070 flushes sensor queues to SQLite bupi_telemetry.db every 1.5 seconds.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Telemetry TTL: 15.0-second freshness window.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Hotspot Watchdog: bupi_node_server.py:1074 checks Windows mobile hotspot state every 30 seconds.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Network Isolation: Hotspot subnet insulates robot fleet from external internet latency spikes.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SIH PROBLEM STATEMENT 26201 | GROUND-TRUTH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Bit-World Engine (BWE) Digital Twin &amp; HIL Simulator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BWE Simulation Capabilities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Engine: JavaScript kinematic physics engine in bwe/core/engine.js.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Virtual Peripherals: GPIO, PWM, 12-bit ADC, I2C, SPI.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Modular Plugins: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- HC-SR04 Ultrasonic raycasting sensor (hcsr04.js).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- MQ-2 Gas diffusion plume model (mq2.js).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- Servo motor and SSD1306 OLED display actuators.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Hardware-in-the-Loop (HIL): bwe/interface/hil_bridge.js connects physical ESP32 running esp32_bwe_mqtt_client.ino to virtual environment over USB Serial.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Digital Twin Parity with Physical Fleet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Identical Schemas: Virtual sensor packets emulate ESP32 JSON telemetry format identically.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Identical Mission Logic: AutonomousGoalAgent executes missions against simulated robots without any code changes.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Interactive State Injection: Drag-and-drop simulated survivors and obstacles on spatial_twin_2d.html.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Pre-Deployment Validation: Test multi-stage missions and obstacle bypasses safely in software before field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SIH PROBLEM STATEMENT 26201 | GROUND-TRUTH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Scalability Roadmap: Raspberry Pi Edge &amp; Heterogeneous Fleet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Phase 1: Current Reality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Dual ESP32 Differential Rovers (Scout &amp; Specialist).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Host PC 3-Tier Intelligence Engine.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Local Mosquitto &amp; WebSocket Bridge.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BWE Digital Twin Simulator.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Epistemic Kinematics Odometry.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Dynamic C++ Hardware Ingestion.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Phase 2: RPi Edge Compute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Introduce intermediate Raspberry Pi 5 Linux node on rover chassis.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Run lightweight MQTT forwarder.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Run local YOLOv8-nano / OpenCV for real-time survivor visual recognition.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Edge Whisper audio pre-processing.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Zero Host Core Changes: Communication remains standard MQTT/WS.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4754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Phase 3: Heterogeneous Fleet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Tracked Rubble Crawlers: Reuses differential motor schema with higher torque PWM.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Aerial Quadcopters (UAVs): Extend kinematics engine to 3D (x, y, z); MAVLink flight controller bridge.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4-DOF Robotic Manipulators: Cartesian inverse kinematics pick-and-place tools.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Static Subterranean Beacons: Fixed gas and climate monitoring relays.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SIH PROBLEM STATEMENT 26201 | GROUND-TRUTH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Ground-Truth Verification Truth Table &amp; Conclusion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  <a:gridCol w="539496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Subsystem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Verified Status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Production Code Reality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3-Tier Decision Pipeline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VERIFIED IN CODE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&lt;5ms Regex -&gt; ~500ms Ollama -&gt; 5-15s CrewAI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Autonomous Goal Agent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VERIFIED IN CODE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20Hz closed-loop loop, 11 policies, 5-stage detour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Heterogeneous Swarm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VERIFIED IN CODE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Bot 1 Scout (PIR) &amp; Bot 2 Specialist (Gas/Climate)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Safety &amp; TTL Watchdogs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VERIFIED IN CODE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15.0s TTL watchdog, Gas safety, Motor auto-stop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Dynamic C++ Ingestion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VERIFIED IN CODE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Self-learning C++ parsing, FTS5 RAG &amp; auto-flasher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Desktop UI &amp; Mascot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VERIFIED IN CODE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100% Electron Chromium (Mascot &amp; 11-Tab Hub)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BWE Digital Twin &amp; HIL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VERIFIED IN CODE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JavaScript simulation engine &amp; physical HIL bridge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Odometry Engine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VERIFIED IN CODE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1.20g IMU gait step counter &amp; Wi-Fi RSSI path loss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BUPI delivers a battle-tested, local-first, fail-safe robotics architecture that bridges the gap between natural language human interaction and reliable physical edge autonomy for Problem Statement 26201.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